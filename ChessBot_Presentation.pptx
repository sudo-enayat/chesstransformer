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BDF8"/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274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26025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27608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840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7831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440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12712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5454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3941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732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5110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12414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99585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916256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09076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48078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70806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243602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710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6465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 BOT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321314" y="1384665"/>
            <a:ext cx="4829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 Transformer: A Chess Learning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47949" y="1811385"/>
            <a:ext cx="117606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824545" y="4152031"/>
            <a:ext cx="182274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Program Name : </a:t>
            </a:r>
            <a:r>
              <a:rPr lang="en-US" sz="12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02475" y="4438380"/>
            <a:ext cx="246700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By: Dr. Bidisha Bhabani</a:t>
            </a:r>
            <a:endParaRPr lang="en-US" sz="105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733D6AD-734E-0A17-4D64-8DD7AD139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510061"/>
              </p:ext>
            </p:extLst>
          </p:nvPr>
        </p:nvGraphicFramePr>
        <p:xfrm>
          <a:off x="1371600" y="2203815"/>
          <a:ext cx="4724400" cy="18142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4400">
                  <a:extLst>
                    <a:ext uri="{9D8B030D-6E8A-4147-A177-3AD203B41FA5}">
                      <a16:colId xmlns:a16="http://schemas.microsoft.com/office/drawing/2014/main" val="1024532728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824791386"/>
                    </a:ext>
                  </a:extLst>
                </a:gridCol>
              </a:tblGrid>
              <a:tr h="3812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B RAJIV KUMAR RAO</a:t>
                      </a:r>
                      <a:endParaRPr lang="en-IN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25CS2021022</a:t>
                      </a:r>
                      <a:endParaRPr lang="en-IN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425391"/>
                  </a:ext>
                </a:extLst>
              </a:tr>
              <a:tr h="3812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ENAYATULLAH SIDDIQUE</a:t>
                      </a:r>
                      <a:endParaRPr lang="en-IN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25CS2021038</a:t>
                      </a:r>
                      <a:endParaRPr lang="en-IN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5064642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 xml:space="preserve">JYOTIRMAY BANIK </a:t>
                      </a:r>
                      <a:endParaRPr lang="en-IN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25CS2021043</a:t>
                      </a:r>
                      <a:endParaRPr lang="en-IN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1032365"/>
                  </a:ext>
                </a:extLst>
              </a:tr>
              <a:tr h="38123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MD WARISH</a:t>
                      </a:r>
                      <a:endParaRPr lang="en-IN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25CS2021060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0616253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ASAD AHMED</a:t>
                      </a:r>
                      <a:endParaRPr lang="en-IN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25CS2021015</a:t>
                      </a:r>
                      <a:endParaRPr lang="en-IN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4238331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E2BC0BA-638C-3B1A-2FF1-266D6249A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1750" y="4295235"/>
            <a:ext cx="867619" cy="765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35052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0" y="1249680"/>
            <a:ext cx="35052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Analysis (Visual)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Analysis (Testing)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References</a:t>
            </a:r>
            <a:endParaRPr lang="en-US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3A10A-4026-6CE0-CD85-6771866E1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1750" y="4295235"/>
            <a:ext cx="867619" cy="765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50000"/>
            <a:ext cx="8083296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440000"/>
            <a:ext cx="8083296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chess apps require online accounts or offer limited local analysis. Learners need a single local app with a polished UI, clear feedback, and scalable AI strength — without sending games to external services.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100000"/>
            <a:ext cx="8083296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390000"/>
            <a:ext cx="8083296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local chess stacks suffer from clunky UIs, limited strength scaling, lack of integrated evaluation/analysis, and complex GPU/driver setup requirements.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3000000"/>
            <a:ext cx="8083296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3290000"/>
            <a:ext cx="8083296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ChessTransformer packages a clean web UI and a local Flask server with preconfigured AI tiers — supporting Vs Friend mode, 5 AI difficulty levels, evaluation bars, move prediction overlays, and a one-click Windows setup script.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CAC86E-D8EA-A1D6-DC6B-7C5E280AF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1750" y="4295235"/>
            <a:ext cx="867619" cy="765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50000"/>
            <a:ext cx="8083296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for Board Games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609600" y="1410000"/>
            <a:ext cx="8083296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model spatial patterns and long-range board interactions. Board squares are tokenized with metadata (castling rights, en-passant), and the model outputs a policy distribution over moves plus a scalar value estimate.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9600" y="1900000"/>
            <a:ext cx="8083296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+ Value Learning (AlphaZero-style)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609600" y="2160000"/>
            <a:ext cx="8083296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Trains a network to output a policy (probability over legal moves) and a value (expected win/draw/loss). Greedy backends use these directly; MCTS uses them to guide and evaluate search.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609600" y="2660000"/>
            <a:ext cx="8083296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Tree Search (MCTS)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09600" y="2920000"/>
            <a:ext cx="8083296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MCTS improves playing strength by exploring future move lines using UCT/PUCT formulas. Efficient MCTS needs batched inference, caching, and careful time control for high simulation throughput.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9600" y="3420000"/>
            <a:ext cx="8083296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Chess UI Libraries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09600" y="3680000"/>
            <a:ext cx="8083296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chessboard.js (rendering/drag-and-drop) and chess.js (rules/legal move generation) provide robust client-side interaction. A small server API coordinates game state, engine calls, and analysis endpoints.</a:t>
            </a:r>
            <a:endParaRPr lang="en-US" sz="114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9D7000-89ED-243B-B67F-5D7A0D2538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1750" y="4295235"/>
            <a:ext cx="867619" cy="765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8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Local Stack: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Chess UI + analysis + strong inference — all without cloud dependency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Strength Without Complexity: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Difficulty tiers abstract model/backend configuration for end users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Search: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Native C++ MCTS avoids Python bottlenecks for superior throughput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Frictionless Setup: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Scripted PowerShell environment creation and CUDA verification for Windows users</a:t>
            </a:r>
            <a:endParaRPr lang="en-US" sz="13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DC3E2A-402E-781D-7380-A564EBE17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1750" y="4295235"/>
            <a:ext cx="867619" cy="765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Polished Chess UI with modern UX — themes, history, captured pieces, review tools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AI Difficulty using multiple model sizes (12M and 78M) and search depths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In-Play Evaluation &amp; Prediction — evaluation bar and top-move overlay during play and review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Data Privacy — no account required, no cloud inference, offline-first design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Windows Setup — one-click PowerShell script for CUDA-capable machines</a:t>
            </a:r>
            <a:endParaRPr lang="en-US" sz="13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9A267D-5CE0-7956-6DC0-BB8B11F65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1750" y="4295235"/>
            <a:ext cx="867619" cy="765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Python 3.12 + Flask + PyTorch CUDA 12.1 + TorchScript + Native C++ MCTS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Steps: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958341"/>
            <a:ext cx="7620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server owns canonical game state (python-chess board) with thread-safe locks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renders board via chessboard.js and calls HTTP endpoints for game operations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Backends are lazy-loaded on demand and cached; inactive backends unloaded to free VRAM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endpoints: /state, /configure_game, /make_move, /predict, /undo, /resign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encoded as pcs tensor (1x64) + meta tensor (1x2) for castling/en-passant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30AC9-8FAB-E21B-D2D8-29C77DD2D8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1750" y="4295235"/>
            <a:ext cx="867619" cy="765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Analysis: Visual Interface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Interface Elements: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718310"/>
            <a:ext cx="4586147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History Panel: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Per-move stats — MCTS sims/depth/Q/time; blunder deltas in Friend mode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Themes: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Wood/dark/glass/forest themes persisted via local storage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Bar: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Respects board orientation; flips when playing as Black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Mode: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Finished game navigation with position analysis via /predict_fen endpoint</a:t>
            </a:r>
            <a:endParaRPr lang="en-US" sz="114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16138F-F213-E76D-51CA-3D3E30D290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1750" y="4295235"/>
            <a:ext cx="867619" cy="765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Analysis: Testing</a:t>
            </a:r>
            <a:endParaRPr lang="en-US" sz="27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4B19C3-9B04-D9DD-8040-5A345E4E6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119259"/>
              </p:ext>
            </p:extLst>
          </p:nvPr>
        </p:nvGraphicFramePr>
        <p:xfrm>
          <a:off x="607423" y="1814817"/>
          <a:ext cx="6454096" cy="2373884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296624">
                  <a:extLst>
                    <a:ext uri="{9D8B030D-6E8A-4147-A177-3AD203B41FA5}">
                      <a16:colId xmlns:a16="http://schemas.microsoft.com/office/drawing/2014/main" val="937987706"/>
                    </a:ext>
                  </a:extLst>
                </a:gridCol>
                <a:gridCol w="1289368">
                  <a:extLst>
                    <a:ext uri="{9D8B030D-6E8A-4147-A177-3AD203B41FA5}">
                      <a16:colId xmlns:a16="http://schemas.microsoft.com/office/drawing/2014/main" val="3766761093"/>
                    </a:ext>
                  </a:extLst>
                </a:gridCol>
                <a:gridCol w="1289368">
                  <a:extLst>
                    <a:ext uri="{9D8B030D-6E8A-4147-A177-3AD203B41FA5}">
                      <a16:colId xmlns:a16="http://schemas.microsoft.com/office/drawing/2014/main" val="4001238769"/>
                    </a:ext>
                  </a:extLst>
                </a:gridCol>
                <a:gridCol w="1289368">
                  <a:extLst>
                    <a:ext uri="{9D8B030D-6E8A-4147-A177-3AD203B41FA5}">
                      <a16:colId xmlns:a16="http://schemas.microsoft.com/office/drawing/2014/main" val="3421513062"/>
                    </a:ext>
                  </a:extLst>
                </a:gridCol>
                <a:gridCol w="1289368">
                  <a:extLst>
                    <a:ext uri="{9D8B030D-6E8A-4147-A177-3AD203B41FA5}">
                      <a16:colId xmlns:a16="http://schemas.microsoft.com/office/drawing/2014/main" val="2476993851"/>
                    </a:ext>
                  </a:extLst>
                </a:gridCol>
              </a:tblGrid>
              <a:tr h="2189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 dirty="0">
                          <a:solidFill>
                            <a:srgbClr val="38BDF8"/>
                          </a:solidFill>
                          <a:latin typeface="Arial" pitchFamily="34" charset="0"/>
                          <a:cs typeface="Arial" pitchFamily="34" charset="-120"/>
                        </a:rPr>
                        <a:t>Component ID</a:t>
                      </a:r>
                      <a:endParaRPr lang="en-IN" sz="1140" kern="1200" dirty="0">
                        <a:solidFill>
                          <a:srgbClr val="38BDF8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38BDF8"/>
                          </a:solidFill>
                          <a:latin typeface="Arial" pitchFamily="34" charset="0"/>
                          <a:cs typeface="Arial" pitchFamily="34" charset="-120"/>
                        </a:rPr>
                        <a:t>Functionality</a:t>
                      </a:r>
                      <a:endParaRPr lang="en-IN" sz="1140" kern="1200">
                        <a:solidFill>
                          <a:srgbClr val="38BDF8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38BDF8"/>
                          </a:solidFill>
                          <a:latin typeface="Arial" pitchFamily="34" charset="0"/>
                          <a:cs typeface="Arial" pitchFamily="34" charset="-120"/>
                        </a:rPr>
                        <a:t>Status</a:t>
                      </a:r>
                      <a:endParaRPr lang="en-IN" sz="1140" kern="1200">
                        <a:solidFill>
                          <a:srgbClr val="38BDF8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38BDF8"/>
                          </a:solidFill>
                          <a:latin typeface="Arial" pitchFamily="34" charset="0"/>
                          <a:cs typeface="Arial" pitchFamily="34" charset="-120"/>
                        </a:rPr>
                        <a:t>Latency</a:t>
                      </a:r>
                      <a:endParaRPr lang="en-IN" sz="1140" kern="1200">
                        <a:solidFill>
                          <a:srgbClr val="38BDF8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 dirty="0">
                          <a:solidFill>
                            <a:srgbClr val="38BDF8"/>
                          </a:solidFill>
                          <a:latin typeface="Arial" pitchFamily="34" charset="0"/>
                          <a:cs typeface="Arial" pitchFamily="34" charset="-120"/>
                        </a:rPr>
                        <a:t>Note</a:t>
                      </a:r>
                      <a:endParaRPr lang="en-IN" sz="1140" kern="1200" dirty="0">
                        <a:solidFill>
                          <a:srgbClr val="38BDF8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34248352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Novice (~800)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Greedy 12M (2nd-best)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PASS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 dirty="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&lt;50ms</a:t>
                      </a:r>
                      <a:endParaRPr lang="en-IN" sz="1140" kern="1200" dirty="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Simulates mistakes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39274811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Club (~1540)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Greedy 12M (best)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PASS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&lt;50ms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Solid club-level play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44175676"/>
                  </a:ext>
                </a:extLst>
              </a:tr>
              <a:tr h="2189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Expert (~1760)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Greedy 78M (best)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PASS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&lt;80ms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Strong tactical play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08288155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Grandmaster (~2500)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Native MCTS 12M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PASS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 dirty="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~1-5s/move</a:t>
                      </a:r>
                      <a:endParaRPr lang="en-IN" sz="1140" kern="1200" dirty="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Deep search, high ELO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94635667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Impossible (~3200)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Native MCTS 78M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PASS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~2-10s/move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Superhuman strength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76552820"/>
                  </a:ext>
                </a:extLst>
              </a:tr>
              <a:tr h="2189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Vs Friend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Referee evaluator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PASS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Real-time</a:t>
                      </a:r>
                      <a:endParaRPr lang="en-IN" sz="1140" kern="120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40" kern="1200" dirty="0">
                          <a:solidFill>
                            <a:srgbClr val="CBD5E1"/>
                          </a:solidFill>
                          <a:latin typeface="Arial" pitchFamily="34" charset="0"/>
                          <a:cs typeface="Arial" pitchFamily="34" charset="-120"/>
                        </a:rPr>
                        <a:t>Blunder detection</a:t>
                      </a:r>
                      <a:endParaRPr lang="en-IN" sz="1140" kern="1200" dirty="0">
                        <a:solidFill>
                          <a:srgbClr val="CBD5E1"/>
                        </a:solidFill>
                        <a:latin typeface="Arial" pitchFamily="34" charset="0"/>
                        <a:ea typeface="Aptos" panose="020B0004020202020204" pitchFamily="34" charset="0"/>
                        <a:cs typeface="Arial" pitchFamily="34" charset="-12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345835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492AEC4-B3E1-6BC9-9686-69A4313ABBDA}"/>
              </a:ext>
            </a:extLst>
          </p:cNvPr>
          <p:cNvSpPr txBox="1"/>
          <p:nvPr/>
        </p:nvSpPr>
        <p:spPr>
          <a:xfrm>
            <a:off x="609600" y="1262489"/>
            <a:ext cx="4167596" cy="310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35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Component Functionality &amp; Stress Test Results: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74CA6D-A26E-ED23-A223-DA42002BF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1750" y="4295235"/>
            <a:ext cx="867619" cy="765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75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ChessTransformer demonstrates a practical architecture for local transformer-based chess inference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combines interactive browser UI, a simple Flask API, and multiple inference/search backends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AI difficulty ranges from lightweight greedy play (~800 Elo) to high-performance native MCTS (~3200 Elo)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evaluation and prediction tools work both in-play and during post-game review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design enables users to play and analyze chess fully on their own GPU without any cloud dependency</a:t>
            </a:r>
            <a:endParaRPr lang="en-US" sz="114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449BDD-40BD-E893-5A98-CECA1ABB9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1750" y="4295235"/>
            <a:ext cx="867619" cy="765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3.x documentation — server routing and JSON APIs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python-chess documentation — rules, FEN, and legality enforcement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chessboard.js and chess.js libraries — web board rendering and rule handling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TorchScript + CUDA runtime — GPU inference for 12M and 78M parameter models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Silver, D. et al., Mastering Chess and Shogi by Self-Play — AlphaZero-style policy/value networks and MCTS</a:t>
            </a:r>
            <a:endParaRPr lang="en-US" sz="108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16307-85E1-DBE3-454A-FCF14FFA3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1750" y="4295235"/>
            <a:ext cx="867619" cy="765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74</TotalTime>
  <Words>594</Words>
  <Application>Microsoft Office PowerPoint</Application>
  <PresentationFormat>On-screen Show (16:9)</PresentationFormat>
  <Paragraphs>125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victus</cp:lastModifiedBy>
  <cp:revision>4</cp:revision>
  <dcterms:created xsi:type="dcterms:W3CDTF">2025-11-26T10:27:13Z</dcterms:created>
  <dcterms:modified xsi:type="dcterms:W3CDTF">2025-11-26T12:13:47Z</dcterms:modified>
</cp:coreProperties>
</file>